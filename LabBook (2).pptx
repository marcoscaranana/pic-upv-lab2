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89" r:id="rId3"/>
    <p:sldId id="295" r:id="rId4"/>
    <p:sldId id="302" r:id="rId5"/>
    <p:sldId id="303" r:id="rId6"/>
    <p:sldId id="304" r:id="rId7"/>
    <p:sldId id="291" r:id="rId8"/>
    <p:sldId id="296" r:id="rId9"/>
    <p:sldId id="294" r:id="rId10"/>
    <p:sldId id="299" r:id="rId11"/>
    <p:sldId id="300" r:id="rId12"/>
    <p:sldId id="301"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915560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4.sv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Marcos Carañana Castillo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requerida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energía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pase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es la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K = 1. La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requerida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salga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/2 (K = 0.5).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17136" y="1442999"/>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86762" y="1517864"/>
            <a:ext cx="2660747" cy="773599"/>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2BBFCC1F-9579-84A4-16A9-3DBBF2111CC7}"/>
              </a:ext>
            </a:extLst>
          </p:cNvPr>
          <p:cNvPicPr>
            <a:picLocks noChangeAspect="1"/>
          </p:cNvPicPr>
          <p:nvPr/>
        </p:nvPicPr>
        <p:blipFill>
          <a:blip r:embed="rId6"/>
          <a:stretch>
            <a:fillRect/>
          </a:stretch>
        </p:blipFill>
        <p:spPr>
          <a:xfrm>
            <a:off x="628102" y="1442999"/>
            <a:ext cx="3996757" cy="3207274"/>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Width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586114" y="6061898"/>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1"/>
            <a:ext cx="11243059" cy="450963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5638800" y="2998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
        <p:nvSpPr>
          <p:cNvPr id="19" name="CuadroTexto 18">
            <a:extLst>
              <a:ext uri="{FF2B5EF4-FFF2-40B4-BE49-F238E27FC236}">
                <a16:creationId xmlns:a16="http://schemas.microsoft.com/office/drawing/2014/main" id="{F6CF3D4B-291A-FDCB-7EEF-DEB00AEFCD6B}"/>
              </a:ext>
            </a:extLst>
          </p:cNvPr>
          <p:cNvSpPr txBox="1"/>
          <p:nvPr/>
        </p:nvSpPr>
        <p:spPr>
          <a:xfrm>
            <a:off x="9748652" y="1540213"/>
            <a:ext cx="2311982" cy="461665"/>
          </a:xfrm>
          <a:prstGeom prst="rect">
            <a:avLst/>
          </a:prstGeom>
          <a:noFill/>
        </p:spPr>
        <p:txBody>
          <a:bodyPr wrap="square" rtlCol="0">
            <a:spAutoFit/>
          </a:bodyPr>
          <a:lstStyle/>
          <a:p>
            <a:r>
              <a:rPr lang="es-ES" sz="1200" dirty="0" err="1"/>
              <a:t>Wg_gap</a:t>
            </a:r>
            <a:r>
              <a:rPr lang="es-ES" sz="1200" dirty="0"/>
              <a:t> = 1.1 </a:t>
            </a:r>
            <a:r>
              <a:rPr lang="es-ES" sz="1200" dirty="0" err="1"/>
              <a:t>um</a:t>
            </a:r>
            <a:endParaRPr lang="es-ES" sz="1200" dirty="0"/>
          </a:p>
          <a:p>
            <a:r>
              <a:rPr lang="es-ES" sz="1200" dirty="0" err="1"/>
              <a:t>L_pi</a:t>
            </a:r>
            <a:r>
              <a:rPr lang="es-ES" sz="1200" dirty="0"/>
              <a:t> = 430.5476100765431 µm</a:t>
            </a:r>
            <a:r>
              <a:rPr lang="es-ES" sz="1000" dirty="0"/>
              <a:t> </a:t>
            </a:r>
          </a:p>
        </p:txBody>
      </p:sp>
      <p:sp>
        <p:nvSpPr>
          <p:cNvPr id="20" name="CuadroTexto 19">
            <a:extLst>
              <a:ext uri="{FF2B5EF4-FFF2-40B4-BE49-F238E27FC236}">
                <a16:creationId xmlns:a16="http://schemas.microsoft.com/office/drawing/2014/main" id="{241E8398-CF94-4538-41A8-0CAA99C04257}"/>
              </a:ext>
            </a:extLst>
          </p:cNvPr>
          <p:cNvSpPr txBox="1"/>
          <p:nvPr/>
        </p:nvSpPr>
        <p:spPr>
          <a:xfrm>
            <a:off x="9722407" y="2258182"/>
            <a:ext cx="2338227" cy="461665"/>
          </a:xfrm>
          <a:prstGeom prst="rect">
            <a:avLst/>
          </a:prstGeom>
          <a:noFill/>
        </p:spPr>
        <p:txBody>
          <a:bodyPr wrap="square" rtlCol="0">
            <a:spAutoFit/>
          </a:bodyPr>
          <a:lstStyle/>
          <a:p>
            <a:r>
              <a:rPr lang="es-ES" sz="1200" dirty="0" err="1"/>
              <a:t>Wg_gap</a:t>
            </a:r>
            <a:r>
              <a:rPr lang="es-ES" sz="1200" dirty="0"/>
              <a:t> = 1.2 </a:t>
            </a:r>
            <a:r>
              <a:rPr lang="es-ES" sz="1200" dirty="0" err="1"/>
              <a:t>um</a:t>
            </a:r>
            <a:endParaRPr lang="es-ES" sz="1200" dirty="0"/>
          </a:p>
          <a:p>
            <a:r>
              <a:rPr lang="es-ES" sz="1200" dirty="0" err="1"/>
              <a:t>L_pi</a:t>
            </a:r>
            <a:r>
              <a:rPr lang="es-ES" sz="1200" dirty="0"/>
              <a:t> = 580.429362308223 µm</a:t>
            </a:r>
            <a:r>
              <a:rPr lang="es-ES" sz="1000" dirty="0"/>
              <a:t> </a:t>
            </a:r>
          </a:p>
        </p:txBody>
      </p:sp>
      <p:sp>
        <p:nvSpPr>
          <p:cNvPr id="21" name="CuadroTexto 20">
            <a:extLst>
              <a:ext uri="{FF2B5EF4-FFF2-40B4-BE49-F238E27FC236}">
                <a16:creationId xmlns:a16="http://schemas.microsoft.com/office/drawing/2014/main" id="{83921DEE-D417-677A-0BE7-FD08BF783B57}"/>
              </a:ext>
            </a:extLst>
          </p:cNvPr>
          <p:cNvSpPr txBox="1"/>
          <p:nvPr/>
        </p:nvSpPr>
        <p:spPr>
          <a:xfrm>
            <a:off x="9701372" y="3013136"/>
            <a:ext cx="2338227" cy="461665"/>
          </a:xfrm>
          <a:prstGeom prst="rect">
            <a:avLst/>
          </a:prstGeom>
          <a:noFill/>
        </p:spPr>
        <p:txBody>
          <a:bodyPr wrap="square" rtlCol="0">
            <a:spAutoFit/>
          </a:bodyPr>
          <a:lstStyle/>
          <a:p>
            <a:r>
              <a:rPr lang="es-ES" sz="1200" dirty="0" err="1"/>
              <a:t>Wg_gap</a:t>
            </a:r>
            <a:r>
              <a:rPr lang="es-ES" sz="1200" dirty="0"/>
              <a:t> = 1.3 </a:t>
            </a:r>
            <a:r>
              <a:rPr lang="es-ES" sz="1200" dirty="0" err="1"/>
              <a:t>um</a:t>
            </a:r>
            <a:r>
              <a:rPr lang="es-ES" sz="1200" dirty="0"/>
              <a:t> </a:t>
            </a:r>
          </a:p>
          <a:p>
            <a:r>
              <a:rPr lang="es-ES" sz="1200" dirty="0" err="1"/>
              <a:t>L_pi</a:t>
            </a:r>
            <a:r>
              <a:rPr lang="es-ES" sz="1200" dirty="0"/>
              <a:t> = 781.3901391734063 µm</a:t>
            </a:r>
            <a:endParaRPr lang="es-ES" sz="1000" dirty="0"/>
          </a:p>
        </p:txBody>
      </p:sp>
      <p:sp>
        <p:nvSpPr>
          <p:cNvPr id="22" name="CuadroTexto 21">
            <a:extLst>
              <a:ext uri="{FF2B5EF4-FFF2-40B4-BE49-F238E27FC236}">
                <a16:creationId xmlns:a16="http://schemas.microsoft.com/office/drawing/2014/main" id="{36F4C690-ADC9-9E6F-F65D-00B7EC7BBF30}"/>
              </a:ext>
            </a:extLst>
          </p:cNvPr>
          <p:cNvSpPr txBox="1"/>
          <p:nvPr/>
        </p:nvSpPr>
        <p:spPr>
          <a:xfrm>
            <a:off x="9701373" y="3767781"/>
            <a:ext cx="2338227" cy="461665"/>
          </a:xfrm>
          <a:prstGeom prst="rect">
            <a:avLst/>
          </a:prstGeom>
          <a:noFill/>
        </p:spPr>
        <p:txBody>
          <a:bodyPr wrap="square" rtlCol="0">
            <a:spAutoFit/>
          </a:bodyPr>
          <a:lstStyle/>
          <a:p>
            <a:r>
              <a:rPr lang="es-ES" sz="1200" dirty="0" err="1"/>
              <a:t>Wg_gap</a:t>
            </a:r>
            <a:r>
              <a:rPr lang="es-ES" sz="1200" dirty="0"/>
              <a:t> = 1.4 </a:t>
            </a:r>
            <a:r>
              <a:rPr lang="es-ES" sz="1200" dirty="0" err="1"/>
              <a:t>um</a:t>
            </a:r>
            <a:endParaRPr lang="es-ES" sz="1200" dirty="0"/>
          </a:p>
          <a:p>
            <a:r>
              <a:rPr lang="es-ES" sz="1200" dirty="0" err="1"/>
              <a:t>L_pi</a:t>
            </a:r>
            <a:r>
              <a:rPr lang="es-ES" sz="1200" dirty="0"/>
              <a:t> = 1050.47868486281 µm</a:t>
            </a:r>
            <a:r>
              <a:rPr lang="es-ES" sz="1000" dirty="0"/>
              <a:t> </a:t>
            </a:r>
          </a:p>
        </p:txBody>
      </p:sp>
      <p:sp>
        <p:nvSpPr>
          <p:cNvPr id="23" name="CuadroTexto 22">
            <a:extLst>
              <a:ext uri="{FF2B5EF4-FFF2-40B4-BE49-F238E27FC236}">
                <a16:creationId xmlns:a16="http://schemas.microsoft.com/office/drawing/2014/main" id="{3D961778-0219-A4B2-C58E-F136E5794F1F}"/>
              </a:ext>
            </a:extLst>
          </p:cNvPr>
          <p:cNvSpPr txBox="1"/>
          <p:nvPr/>
        </p:nvSpPr>
        <p:spPr>
          <a:xfrm>
            <a:off x="9722407" y="4481739"/>
            <a:ext cx="2633106" cy="461665"/>
          </a:xfrm>
          <a:prstGeom prst="rect">
            <a:avLst/>
          </a:prstGeom>
          <a:noFill/>
        </p:spPr>
        <p:txBody>
          <a:bodyPr wrap="square" rtlCol="0">
            <a:spAutoFit/>
          </a:bodyPr>
          <a:lstStyle/>
          <a:p>
            <a:r>
              <a:rPr lang="es-ES" sz="1200" dirty="0" err="1"/>
              <a:t>Wg_gap</a:t>
            </a:r>
            <a:r>
              <a:rPr lang="es-ES" sz="1200" dirty="0"/>
              <a:t> = 1.5 </a:t>
            </a:r>
            <a:r>
              <a:rPr lang="es-ES" sz="1200" dirty="0" err="1"/>
              <a:t>um</a:t>
            </a:r>
            <a:endParaRPr lang="es-ES" sz="1200" dirty="0"/>
          </a:p>
          <a:p>
            <a:r>
              <a:rPr lang="es-ES" sz="1200" dirty="0" err="1"/>
              <a:t>L_pi</a:t>
            </a:r>
            <a:r>
              <a:rPr lang="es-ES" sz="1200" dirty="0"/>
              <a:t> = 1410.6607123719737 µm</a:t>
            </a:r>
            <a:endParaRPr lang="es-ES" sz="1000" dirty="0"/>
          </a:p>
        </p:txBody>
      </p:sp>
      <p:sp>
        <p:nvSpPr>
          <p:cNvPr id="24" name="CuadroTexto 23">
            <a:extLst>
              <a:ext uri="{FF2B5EF4-FFF2-40B4-BE49-F238E27FC236}">
                <a16:creationId xmlns:a16="http://schemas.microsoft.com/office/drawing/2014/main" id="{7F46A90C-CB68-923E-0068-AF06427BD8DD}"/>
              </a:ext>
            </a:extLst>
          </p:cNvPr>
          <p:cNvSpPr txBox="1"/>
          <p:nvPr/>
        </p:nvSpPr>
        <p:spPr>
          <a:xfrm>
            <a:off x="8194730" y="5267425"/>
            <a:ext cx="3535596" cy="461665"/>
          </a:xfrm>
          <a:prstGeom prst="rect">
            <a:avLst/>
          </a:prstGeom>
          <a:noFill/>
        </p:spPr>
        <p:txBody>
          <a:bodyPr wrap="square" rtlCol="0">
            <a:spAutoFit/>
          </a:bodyPr>
          <a:lstStyle/>
          <a:p>
            <a:r>
              <a:rPr lang="es-ES" sz="1200" dirty="0" err="1"/>
              <a:t>Wg_gap</a:t>
            </a:r>
            <a:r>
              <a:rPr lang="es-ES" sz="1200" dirty="0"/>
              <a:t> = 1.6 </a:t>
            </a:r>
            <a:r>
              <a:rPr lang="es-ES" sz="1200" dirty="0" err="1"/>
              <a:t>um</a:t>
            </a:r>
            <a:endParaRPr lang="es-ES" sz="1200" dirty="0"/>
          </a:p>
          <a:p>
            <a:r>
              <a:rPr lang="es-ES" sz="1200" dirty="0" err="1"/>
              <a:t>L_pi</a:t>
            </a:r>
            <a:r>
              <a:rPr lang="es-ES" sz="1200" dirty="0"/>
              <a:t> = 1892.46741241327 µm</a:t>
            </a:r>
            <a:endParaRPr lang="es-ES" sz="700" dirty="0"/>
          </a:p>
        </p:txBody>
      </p:sp>
      <p:pic>
        <p:nvPicPr>
          <p:cNvPr id="25" name="Imagen 24" descr="Gráfico, Diagrama&#10;&#10;El contenido generado por IA puede ser incorrecto.">
            <a:extLst>
              <a:ext uri="{FF2B5EF4-FFF2-40B4-BE49-F238E27FC236}">
                <a16:creationId xmlns:a16="http://schemas.microsoft.com/office/drawing/2014/main" id="{DB5C3114-9442-DC12-EFE2-820946D38E92}"/>
              </a:ext>
            </a:extLst>
          </p:cNvPr>
          <p:cNvPicPr>
            <a:picLocks noChangeAspect="1"/>
          </p:cNvPicPr>
          <p:nvPr/>
        </p:nvPicPr>
        <p:blipFill>
          <a:blip r:embed="rId5"/>
          <a:stretch>
            <a:fillRect/>
          </a:stretch>
        </p:blipFill>
        <p:spPr>
          <a:xfrm>
            <a:off x="671804" y="1500417"/>
            <a:ext cx="4043432" cy="818480"/>
          </a:xfrm>
          <a:prstGeom prst="rect">
            <a:avLst/>
          </a:prstGeom>
        </p:spPr>
      </p:pic>
      <p:pic>
        <p:nvPicPr>
          <p:cNvPr id="29" name="Imagen 28" descr="Gráfico, Diagrama&#10;&#10;El contenido generado por IA puede ser incorrecto.">
            <a:extLst>
              <a:ext uri="{FF2B5EF4-FFF2-40B4-BE49-F238E27FC236}">
                <a16:creationId xmlns:a16="http://schemas.microsoft.com/office/drawing/2014/main" id="{6E5CE5C5-114A-122F-D44E-FB0749CD9264}"/>
              </a:ext>
            </a:extLst>
          </p:cNvPr>
          <p:cNvPicPr>
            <a:picLocks noChangeAspect="1"/>
          </p:cNvPicPr>
          <p:nvPr/>
        </p:nvPicPr>
        <p:blipFill>
          <a:blip r:embed="rId6"/>
          <a:stretch>
            <a:fillRect/>
          </a:stretch>
        </p:blipFill>
        <p:spPr>
          <a:xfrm>
            <a:off x="655033" y="2230635"/>
            <a:ext cx="4009165" cy="818480"/>
          </a:xfrm>
          <a:prstGeom prst="rect">
            <a:avLst/>
          </a:prstGeom>
        </p:spPr>
      </p:pic>
      <p:pic>
        <p:nvPicPr>
          <p:cNvPr id="32" name="Imagen 31" descr="Gráfico&#10;&#10;El contenido generado por IA puede ser incorrecto.">
            <a:extLst>
              <a:ext uri="{FF2B5EF4-FFF2-40B4-BE49-F238E27FC236}">
                <a16:creationId xmlns:a16="http://schemas.microsoft.com/office/drawing/2014/main" id="{260CBC5B-39ED-4001-11CD-E2984169F6BA}"/>
              </a:ext>
            </a:extLst>
          </p:cNvPr>
          <p:cNvPicPr>
            <a:picLocks noChangeAspect="1"/>
          </p:cNvPicPr>
          <p:nvPr/>
        </p:nvPicPr>
        <p:blipFill>
          <a:blip r:embed="rId7"/>
          <a:stretch>
            <a:fillRect/>
          </a:stretch>
        </p:blipFill>
        <p:spPr>
          <a:xfrm>
            <a:off x="652529" y="3007161"/>
            <a:ext cx="4043432" cy="825476"/>
          </a:xfrm>
          <a:prstGeom prst="rect">
            <a:avLst/>
          </a:prstGeom>
        </p:spPr>
      </p:pic>
      <p:pic>
        <p:nvPicPr>
          <p:cNvPr id="34" name="Imagen 33" descr="Gráfico&#10;&#10;El contenido generado por IA puede ser incorrecto.">
            <a:extLst>
              <a:ext uri="{FF2B5EF4-FFF2-40B4-BE49-F238E27FC236}">
                <a16:creationId xmlns:a16="http://schemas.microsoft.com/office/drawing/2014/main" id="{12433CE3-6FB1-AEC6-AE9B-116CB6A00A46}"/>
              </a:ext>
            </a:extLst>
          </p:cNvPr>
          <p:cNvPicPr>
            <a:picLocks noChangeAspect="1"/>
          </p:cNvPicPr>
          <p:nvPr/>
        </p:nvPicPr>
        <p:blipFill>
          <a:blip r:embed="rId8"/>
          <a:stretch>
            <a:fillRect/>
          </a:stretch>
        </p:blipFill>
        <p:spPr>
          <a:xfrm>
            <a:off x="671804" y="3802516"/>
            <a:ext cx="4043433" cy="825476"/>
          </a:xfrm>
          <a:prstGeom prst="rect">
            <a:avLst/>
          </a:prstGeom>
        </p:spPr>
      </p:pic>
      <p:pic>
        <p:nvPicPr>
          <p:cNvPr id="36" name="Imagen 35" descr="Diagrama&#10;&#10;El contenido generado por IA puede ser incorrecto.">
            <a:extLst>
              <a:ext uri="{FF2B5EF4-FFF2-40B4-BE49-F238E27FC236}">
                <a16:creationId xmlns:a16="http://schemas.microsoft.com/office/drawing/2014/main" id="{03EDEDBD-C335-F2AE-AC8B-02DBF76FD9C1}"/>
              </a:ext>
            </a:extLst>
          </p:cNvPr>
          <p:cNvPicPr>
            <a:picLocks noChangeAspect="1"/>
          </p:cNvPicPr>
          <p:nvPr/>
        </p:nvPicPr>
        <p:blipFill>
          <a:blip r:embed="rId9"/>
          <a:stretch>
            <a:fillRect/>
          </a:stretch>
        </p:blipFill>
        <p:spPr>
          <a:xfrm>
            <a:off x="688950" y="4567707"/>
            <a:ext cx="4009460" cy="825477"/>
          </a:xfrm>
          <a:prstGeom prst="rect">
            <a:avLst/>
          </a:prstGeom>
        </p:spPr>
      </p:pic>
      <p:pic>
        <p:nvPicPr>
          <p:cNvPr id="38" name="Imagen 37" descr="Diagrama&#10;&#10;El contenido generado por IA puede ser incorrecto.">
            <a:extLst>
              <a:ext uri="{FF2B5EF4-FFF2-40B4-BE49-F238E27FC236}">
                <a16:creationId xmlns:a16="http://schemas.microsoft.com/office/drawing/2014/main" id="{198B9636-74C4-AD2F-A978-96082E941FC2}"/>
              </a:ext>
            </a:extLst>
          </p:cNvPr>
          <p:cNvPicPr>
            <a:picLocks noChangeAspect="1"/>
          </p:cNvPicPr>
          <p:nvPr/>
        </p:nvPicPr>
        <p:blipFill>
          <a:blip r:embed="rId10"/>
          <a:stretch>
            <a:fillRect/>
          </a:stretch>
        </p:blipFill>
        <p:spPr>
          <a:xfrm>
            <a:off x="6031518" y="1452152"/>
            <a:ext cx="3705626" cy="762923"/>
          </a:xfrm>
          <a:prstGeom prst="rect">
            <a:avLst/>
          </a:prstGeom>
        </p:spPr>
      </p:pic>
      <p:pic>
        <p:nvPicPr>
          <p:cNvPr id="40" name="Imagen 39" descr="Gráfico, Diagrama&#10;&#10;El contenido generado por IA puede ser incorrecto.">
            <a:extLst>
              <a:ext uri="{FF2B5EF4-FFF2-40B4-BE49-F238E27FC236}">
                <a16:creationId xmlns:a16="http://schemas.microsoft.com/office/drawing/2014/main" id="{363DB2B0-00CB-7388-9CFE-32C865288A10}"/>
              </a:ext>
            </a:extLst>
          </p:cNvPr>
          <p:cNvPicPr>
            <a:picLocks noChangeAspect="1"/>
          </p:cNvPicPr>
          <p:nvPr/>
        </p:nvPicPr>
        <p:blipFill>
          <a:blip r:embed="rId11"/>
          <a:stretch>
            <a:fillRect/>
          </a:stretch>
        </p:blipFill>
        <p:spPr>
          <a:xfrm>
            <a:off x="6097861" y="2914618"/>
            <a:ext cx="3705626" cy="769335"/>
          </a:xfrm>
          <a:prstGeom prst="rect">
            <a:avLst/>
          </a:prstGeom>
        </p:spPr>
      </p:pic>
      <p:pic>
        <p:nvPicPr>
          <p:cNvPr id="42" name="Imagen 41" descr="Gráfico&#10;&#10;El contenido generado por IA puede ser incorrecto.">
            <a:extLst>
              <a:ext uri="{FF2B5EF4-FFF2-40B4-BE49-F238E27FC236}">
                <a16:creationId xmlns:a16="http://schemas.microsoft.com/office/drawing/2014/main" id="{C61E5D99-4DC1-7E64-CC22-ABD7C90CE1EA}"/>
              </a:ext>
            </a:extLst>
          </p:cNvPr>
          <p:cNvPicPr>
            <a:picLocks noChangeAspect="1"/>
          </p:cNvPicPr>
          <p:nvPr/>
        </p:nvPicPr>
        <p:blipFill>
          <a:blip r:embed="rId12"/>
          <a:stretch>
            <a:fillRect/>
          </a:stretch>
        </p:blipFill>
        <p:spPr>
          <a:xfrm>
            <a:off x="6062096" y="2188015"/>
            <a:ext cx="3705626" cy="769334"/>
          </a:xfrm>
          <a:prstGeom prst="rect">
            <a:avLst/>
          </a:prstGeom>
        </p:spPr>
      </p:pic>
      <p:pic>
        <p:nvPicPr>
          <p:cNvPr id="44" name="Imagen 43" descr="Gráfico&#10;&#10;El contenido generado por IA puede ser incorrecto.">
            <a:extLst>
              <a:ext uri="{FF2B5EF4-FFF2-40B4-BE49-F238E27FC236}">
                <a16:creationId xmlns:a16="http://schemas.microsoft.com/office/drawing/2014/main" id="{948796F9-0D04-4295-41FB-608A0B172F0D}"/>
              </a:ext>
            </a:extLst>
          </p:cNvPr>
          <p:cNvPicPr>
            <a:picLocks noChangeAspect="1"/>
          </p:cNvPicPr>
          <p:nvPr/>
        </p:nvPicPr>
        <p:blipFill>
          <a:blip r:embed="rId13"/>
          <a:stretch>
            <a:fillRect/>
          </a:stretch>
        </p:blipFill>
        <p:spPr>
          <a:xfrm>
            <a:off x="6099031" y="3684937"/>
            <a:ext cx="3694740" cy="767074"/>
          </a:xfrm>
          <a:prstGeom prst="rect">
            <a:avLst/>
          </a:prstGeom>
        </p:spPr>
      </p:pic>
      <p:pic>
        <p:nvPicPr>
          <p:cNvPr id="46" name="Imagen 45" descr="Gráfico&#10;&#10;El contenido generado por IA puede ser incorrecto.">
            <a:extLst>
              <a:ext uri="{FF2B5EF4-FFF2-40B4-BE49-F238E27FC236}">
                <a16:creationId xmlns:a16="http://schemas.microsoft.com/office/drawing/2014/main" id="{2452E303-215C-3749-2F9F-9BAF6151481B}"/>
              </a:ext>
            </a:extLst>
          </p:cNvPr>
          <p:cNvPicPr>
            <a:picLocks noChangeAspect="1"/>
          </p:cNvPicPr>
          <p:nvPr/>
        </p:nvPicPr>
        <p:blipFill>
          <a:blip r:embed="rId14"/>
          <a:stretch>
            <a:fillRect/>
          </a:stretch>
        </p:blipFill>
        <p:spPr>
          <a:xfrm>
            <a:off x="6139853" y="4401687"/>
            <a:ext cx="3653918" cy="764921"/>
          </a:xfrm>
          <a:prstGeom prst="rect">
            <a:avLst/>
          </a:prstGeom>
        </p:spPr>
      </p:pic>
      <p:pic>
        <p:nvPicPr>
          <p:cNvPr id="48" name="Imagen 47" descr="Gráfico&#10;&#10;El contenido generado por IA puede ser incorrecto.">
            <a:extLst>
              <a:ext uri="{FF2B5EF4-FFF2-40B4-BE49-F238E27FC236}">
                <a16:creationId xmlns:a16="http://schemas.microsoft.com/office/drawing/2014/main" id="{F423907B-DF3B-CA27-4363-7DFAC5BC6C1C}"/>
              </a:ext>
            </a:extLst>
          </p:cNvPr>
          <p:cNvPicPr>
            <a:picLocks noChangeAspect="1"/>
          </p:cNvPicPr>
          <p:nvPr/>
        </p:nvPicPr>
        <p:blipFill>
          <a:blip r:embed="rId15"/>
          <a:stretch>
            <a:fillRect/>
          </a:stretch>
        </p:blipFill>
        <p:spPr>
          <a:xfrm>
            <a:off x="4540808" y="5131187"/>
            <a:ext cx="3653922" cy="764921"/>
          </a:xfrm>
          <a:prstGeom prst="rect">
            <a:avLst/>
          </a:prstGeom>
        </p:spPr>
      </p:pic>
      <p:sp>
        <p:nvSpPr>
          <p:cNvPr id="14" name="CuadroTexto 13">
            <a:extLst>
              <a:ext uri="{FF2B5EF4-FFF2-40B4-BE49-F238E27FC236}">
                <a16:creationId xmlns:a16="http://schemas.microsoft.com/office/drawing/2014/main" id="{D5C8290D-FF51-D95A-F1F2-5237DCA324AD}"/>
              </a:ext>
            </a:extLst>
          </p:cNvPr>
          <p:cNvSpPr txBox="1"/>
          <p:nvPr/>
        </p:nvSpPr>
        <p:spPr>
          <a:xfrm>
            <a:off x="4654787" y="4703952"/>
            <a:ext cx="2355613" cy="461665"/>
          </a:xfrm>
          <a:prstGeom prst="rect">
            <a:avLst/>
          </a:prstGeom>
          <a:noFill/>
        </p:spPr>
        <p:txBody>
          <a:bodyPr wrap="square" rtlCol="0">
            <a:spAutoFit/>
          </a:bodyPr>
          <a:lstStyle/>
          <a:p>
            <a:r>
              <a:rPr lang="es-ES" sz="1200" dirty="0" err="1"/>
              <a:t>Wg_gap</a:t>
            </a:r>
            <a:r>
              <a:rPr lang="es-ES" sz="1200" dirty="0"/>
              <a:t> = 1.0 </a:t>
            </a:r>
            <a:r>
              <a:rPr lang="es-ES" sz="1200" dirty="0" err="1"/>
              <a:t>um</a:t>
            </a:r>
            <a:endParaRPr lang="es-ES" sz="1200" dirty="0"/>
          </a:p>
          <a:p>
            <a:r>
              <a:rPr lang="es-ES" sz="1200" dirty="0" err="1"/>
              <a:t>L_pi</a:t>
            </a:r>
            <a:r>
              <a:rPr lang="es-ES" sz="1200" dirty="0"/>
              <a:t> = 318.88415207651974 µm</a:t>
            </a:r>
            <a:r>
              <a:rPr lang="es-ES" sz="1000" dirty="0"/>
              <a:t> </a:t>
            </a:r>
          </a:p>
        </p:txBody>
      </p:sp>
      <p:sp>
        <p:nvSpPr>
          <p:cNvPr id="12" name="CuadroTexto 11">
            <a:extLst>
              <a:ext uri="{FF2B5EF4-FFF2-40B4-BE49-F238E27FC236}">
                <a16:creationId xmlns:a16="http://schemas.microsoft.com/office/drawing/2014/main" id="{5607A4C7-0121-5BF1-BF5A-4BE1F4EEB1F0}"/>
              </a:ext>
            </a:extLst>
          </p:cNvPr>
          <p:cNvSpPr txBox="1"/>
          <p:nvPr/>
        </p:nvSpPr>
        <p:spPr>
          <a:xfrm>
            <a:off x="4656993" y="3943702"/>
            <a:ext cx="2467385" cy="461665"/>
          </a:xfrm>
          <a:prstGeom prst="rect">
            <a:avLst/>
          </a:prstGeom>
          <a:noFill/>
        </p:spPr>
        <p:txBody>
          <a:bodyPr wrap="square" rtlCol="0">
            <a:spAutoFit/>
          </a:bodyPr>
          <a:lstStyle/>
          <a:p>
            <a:r>
              <a:rPr lang="es-ES" sz="1200" dirty="0" err="1"/>
              <a:t>Wg_gap</a:t>
            </a:r>
            <a:r>
              <a:rPr lang="es-ES" sz="1200" dirty="0"/>
              <a:t> = 0.9 </a:t>
            </a:r>
            <a:r>
              <a:rPr lang="es-ES" sz="1200" dirty="0" err="1"/>
              <a:t>um</a:t>
            </a:r>
            <a:endParaRPr lang="es-ES" sz="1200" dirty="0"/>
          </a:p>
          <a:p>
            <a:r>
              <a:rPr lang="es-ES" sz="1200" dirty="0" err="1"/>
              <a:t>L_pi</a:t>
            </a:r>
            <a:r>
              <a:rPr lang="es-ES" sz="1200" dirty="0"/>
              <a:t> = 235.77407047786 µm</a:t>
            </a:r>
            <a:r>
              <a:rPr lang="es-ES" sz="1000" dirty="0"/>
              <a:t> </a:t>
            </a:r>
          </a:p>
        </p:txBody>
      </p:sp>
      <p:sp>
        <p:nvSpPr>
          <p:cNvPr id="10" name="CuadroTexto 9">
            <a:extLst>
              <a:ext uri="{FF2B5EF4-FFF2-40B4-BE49-F238E27FC236}">
                <a16:creationId xmlns:a16="http://schemas.microsoft.com/office/drawing/2014/main" id="{348CBE92-320E-26E8-3274-602ADE4575B4}"/>
              </a:ext>
            </a:extLst>
          </p:cNvPr>
          <p:cNvSpPr txBox="1"/>
          <p:nvPr/>
        </p:nvSpPr>
        <p:spPr>
          <a:xfrm>
            <a:off x="4588888" y="3190548"/>
            <a:ext cx="2443283" cy="461665"/>
          </a:xfrm>
          <a:prstGeom prst="rect">
            <a:avLst/>
          </a:prstGeom>
          <a:noFill/>
        </p:spPr>
        <p:txBody>
          <a:bodyPr wrap="square" rtlCol="0">
            <a:spAutoFit/>
          </a:bodyPr>
          <a:lstStyle/>
          <a:p>
            <a:r>
              <a:rPr lang="es-ES" sz="1200" dirty="0" err="1"/>
              <a:t>Wg_gap</a:t>
            </a:r>
            <a:r>
              <a:rPr lang="es-ES" sz="1200" dirty="0"/>
              <a:t> = 0.8 </a:t>
            </a:r>
            <a:r>
              <a:rPr lang="es-ES" sz="1200" dirty="0" err="1"/>
              <a:t>um</a:t>
            </a:r>
            <a:endParaRPr lang="es-ES" sz="1200" dirty="0"/>
          </a:p>
          <a:p>
            <a:r>
              <a:rPr lang="es-ES" sz="1200" dirty="0" err="1"/>
              <a:t>L_pi</a:t>
            </a:r>
            <a:r>
              <a:rPr lang="es-ES" sz="1200" dirty="0"/>
              <a:t> = 173.96389977132287 µm</a:t>
            </a:r>
            <a:r>
              <a:rPr lang="es-ES" sz="1000" dirty="0"/>
              <a:t> </a:t>
            </a:r>
          </a:p>
        </p:txBody>
      </p:sp>
      <p:sp>
        <p:nvSpPr>
          <p:cNvPr id="4" name="CuadroTexto 3">
            <a:extLst>
              <a:ext uri="{FF2B5EF4-FFF2-40B4-BE49-F238E27FC236}">
                <a16:creationId xmlns:a16="http://schemas.microsoft.com/office/drawing/2014/main" id="{1C07E199-4CFE-E1E5-BF28-AF41E109A1DE}"/>
              </a:ext>
            </a:extLst>
          </p:cNvPr>
          <p:cNvSpPr txBox="1"/>
          <p:nvPr/>
        </p:nvSpPr>
        <p:spPr>
          <a:xfrm>
            <a:off x="4574766" y="2465533"/>
            <a:ext cx="2437189" cy="461665"/>
          </a:xfrm>
          <a:prstGeom prst="rect">
            <a:avLst/>
          </a:prstGeom>
          <a:noFill/>
        </p:spPr>
        <p:txBody>
          <a:bodyPr wrap="square" rtlCol="0">
            <a:spAutoFit/>
          </a:bodyPr>
          <a:lstStyle/>
          <a:p>
            <a:r>
              <a:rPr lang="es-ES" sz="1200" dirty="0" err="1"/>
              <a:t>Wg_gap</a:t>
            </a:r>
            <a:r>
              <a:rPr lang="es-ES" sz="1200" dirty="0"/>
              <a:t> = 0.7 </a:t>
            </a:r>
            <a:r>
              <a:rPr lang="es-ES" sz="1200" dirty="0" err="1"/>
              <a:t>um</a:t>
            </a:r>
            <a:endParaRPr lang="es-ES" sz="1200" dirty="0"/>
          </a:p>
          <a:p>
            <a:r>
              <a:rPr lang="es-ES" sz="1200" dirty="0" err="1"/>
              <a:t>L_pi</a:t>
            </a:r>
            <a:r>
              <a:rPr lang="es-ES" sz="1200" dirty="0"/>
              <a:t> = 128.0656733391793 µm</a:t>
            </a:r>
            <a:r>
              <a:rPr lang="es-ES" sz="1000" dirty="0"/>
              <a:t> </a:t>
            </a:r>
          </a:p>
        </p:txBody>
      </p:sp>
      <p:sp>
        <p:nvSpPr>
          <p:cNvPr id="6" name="CuadroTexto 5">
            <a:extLst>
              <a:ext uri="{FF2B5EF4-FFF2-40B4-BE49-F238E27FC236}">
                <a16:creationId xmlns:a16="http://schemas.microsoft.com/office/drawing/2014/main" id="{51A66779-6544-ED7F-EA0D-B89A0D3C3D42}"/>
              </a:ext>
            </a:extLst>
          </p:cNvPr>
          <p:cNvSpPr txBox="1"/>
          <p:nvPr/>
        </p:nvSpPr>
        <p:spPr>
          <a:xfrm>
            <a:off x="4654787" y="1691918"/>
            <a:ext cx="2437189" cy="461665"/>
          </a:xfrm>
          <a:prstGeom prst="rect">
            <a:avLst/>
          </a:prstGeom>
          <a:noFill/>
        </p:spPr>
        <p:txBody>
          <a:bodyPr wrap="square" rtlCol="0">
            <a:spAutoFit/>
          </a:bodyPr>
          <a:lstStyle/>
          <a:p>
            <a:r>
              <a:rPr lang="es-ES" sz="1200" dirty="0" err="1"/>
              <a:t>Wg_gap</a:t>
            </a:r>
            <a:r>
              <a:rPr lang="es-ES" sz="1200" dirty="0"/>
              <a:t> = 0.6 </a:t>
            </a:r>
            <a:r>
              <a:rPr lang="es-ES" sz="1200" dirty="0" err="1"/>
              <a:t>um</a:t>
            </a:r>
            <a:endParaRPr lang="es-ES" sz="1200" dirty="0"/>
          </a:p>
          <a:p>
            <a:r>
              <a:rPr lang="es-ES" sz="1200" dirty="0" err="1"/>
              <a:t>L_pi</a:t>
            </a:r>
            <a:r>
              <a:rPr lang="es-ES" sz="1200" dirty="0"/>
              <a:t> = 94.02742605179662 µm</a:t>
            </a:r>
            <a:r>
              <a:rPr lang="es-ES" sz="1000" dirty="0"/>
              <a:t> </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B65251-14DA-71A8-B23B-819BE7F66986}"/>
              </a:ext>
            </a:extLst>
          </p:cNvPr>
          <p:cNvSpPr>
            <a:spLocks noGrp="1"/>
          </p:cNvSpPr>
          <p:nvPr>
            <p:ph type="title"/>
          </p:nvPr>
        </p:nvSpPr>
        <p:spPr>
          <a:xfrm>
            <a:off x="571500" y="388549"/>
            <a:ext cx="10991850" cy="307777"/>
          </a:xfrm>
        </p:spPr>
        <p:txBody>
          <a:bodyPr/>
          <a:lstStyle/>
          <a:p>
            <a:r>
              <a:rPr lang="es-ES" dirty="0"/>
              <a:t>Longitud de batido Vs Gap </a:t>
            </a:r>
            <a:r>
              <a:rPr lang="es-ES" dirty="0" err="1"/>
              <a:t>spacing</a:t>
            </a:r>
            <a:endParaRPr lang="es-ES" dirty="0"/>
          </a:p>
        </p:txBody>
      </p:sp>
      <p:sp>
        <p:nvSpPr>
          <p:cNvPr id="3" name="Marcador de texto 2">
            <a:extLst>
              <a:ext uri="{FF2B5EF4-FFF2-40B4-BE49-F238E27FC236}">
                <a16:creationId xmlns:a16="http://schemas.microsoft.com/office/drawing/2014/main" id="{A02C96C9-F540-0820-5266-B5C8E25E0355}"/>
              </a:ext>
            </a:extLst>
          </p:cNvPr>
          <p:cNvSpPr>
            <a:spLocks noGrp="1"/>
          </p:cNvSpPr>
          <p:nvPr>
            <p:ph type="body" idx="1"/>
          </p:nvPr>
        </p:nvSpPr>
        <p:spPr>
          <a:xfrm>
            <a:off x="7490927" y="1251133"/>
            <a:ext cx="4095750" cy="2286000"/>
          </a:xfrm>
        </p:spPr>
        <p:txBody>
          <a:bodyPr/>
          <a:lstStyle/>
          <a:p>
            <a:r>
              <a:rPr lang="es-ES" dirty="0"/>
              <a:t>Al graficar las longitudes de batido frente al gap, podemos ver como a medida que aumentamos el gap, la longitud de batido (</a:t>
            </a:r>
            <a:r>
              <a:rPr lang="es-ES" dirty="0" err="1"/>
              <a:t>L_pi</a:t>
            </a:r>
            <a:r>
              <a:rPr lang="es-ES" dirty="0"/>
              <a:t>) aumenta. Esto se debe a que, al separar las guías entre ellas, la luz sufre un menor acoplo y por ello necesita una mayor longitud para “saltar” entre guías. </a:t>
            </a:r>
          </a:p>
        </p:txBody>
      </p:sp>
      <p:sp>
        <p:nvSpPr>
          <p:cNvPr id="4" name="Marcador de pie de página 3">
            <a:extLst>
              <a:ext uri="{FF2B5EF4-FFF2-40B4-BE49-F238E27FC236}">
                <a16:creationId xmlns:a16="http://schemas.microsoft.com/office/drawing/2014/main" id="{8244CF94-14AC-DA86-8173-E38BF7179EE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E4F61BEA-9B11-958D-8D54-60926750D3C7}"/>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9" name="Imagen 8" descr="Gráfico, Gráfico de líneas&#10;&#10;El contenido generado por IA puede ser incorrecto.">
            <a:extLst>
              <a:ext uri="{FF2B5EF4-FFF2-40B4-BE49-F238E27FC236}">
                <a16:creationId xmlns:a16="http://schemas.microsoft.com/office/drawing/2014/main" id="{FE7BA7AF-D66E-4636-FC28-8DFF54E4C491}"/>
              </a:ext>
            </a:extLst>
          </p:cNvPr>
          <p:cNvPicPr>
            <a:picLocks noChangeAspect="1"/>
          </p:cNvPicPr>
          <p:nvPr/>
        </p:nvPicPr>
        <p:blipFill>
          <a:blip r:embed="rId2"/>
          <a:stretch>
            <a:fillRect/>
          </a:stretch>
        </p:blipFill>
        <p:spPr>
          <a:xfrm>
            <a:off x="568390" y="942651"/>
            <a:ext cx="6338823" cy="4972697"/>
          </a:xfrm>
          <a:prstGeom prst="rect">
            <a:avLst/>
          </a:prstGeom>
        </p:spPr>
      </p:pic>
    </p:spTree>
    <p:extLst>
      <p:ext uri="{BB962C8B-B14F-4D97-AF65-F5344CB8AC3E}">
        <p14:creationId xmlns:p14="http://schemas.microsoft.com/office/powerpoint/2010/main" val="1971399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gap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K&lt;0,01 para dos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paralelas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tipo</a:t>
            </a:r>
            <a:r>
              <a:rPr lang="en-US" sz="1200" dirty="0">
                <a:latin typeface="Arial" panose="020B0604020202020204" pitchFamily="34" charset="0"/>
                <a:cs typeface="Arial" panose="020B0604020202020204" pitchFamily="34" charset="0"/>
              </a:rPr>
              <a:t> deep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10 mm es de 0,4 um.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3352800" y="1186849"/>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16D0ECF5-0D80-0308-71A3-5BF1F24CAB19}"/>
              </a:ext>
            </a:extLst>
          </p:cNvPr>
          <p:cNvPicPr>
            <a:picLocks noChangeAspect="1"/>
          </p:cNvPicPr>
          <p:nvPr/>
        </p:nvPicPr>
        <p:blipFill>
          <a:blip r:embed="rId5"/>
          <a:stretch>
            <a:fillRect/>
          </a:stretch>
        </p:blipFill>
        <p:spPr>
          <a:xfrm>
            <a:off x="3505359" y="1263050"/>
            <a:ext cx="5172075" cy="2728684"/>
          </a:xfrm>
          <a:prstGeom prst="rect">
            <a:avLst/>
          </a:prstGeom>
        </p:spPr>
      </p:pic>
      <p:pic>
        <p:nvPicPr>
          <p:cNvPr id="11" name="Imagen 10">
            <a:extLst>
              <a:ext uri="{FF2B5EF4-FFF2-40B4-BE49-F238E27FC236}">
                <a16:creationId xmlns:a16="http://schemas.microsoft.com/office/drawing/2014/main" id="{6F045565-C009-134D-8414-AD890919E51A}"/>
              </a:ext>
            </a:extLst>
          </p:cNvPr>
          <p:cNvPicPr>
            <a:picLocks noChangeAspect="1"/>
          </p:cNvPicPr>
          <p:nvPr/>
        </p:nvPicPr>
        <p:blipFill>
          <a:blip r:embed="rId6"/>
          <a:stretch>
            <a:fillRect/>
          </a:stretch>
        </p:blipFill>
        <p:spPr>
          <a:xfrm>
            <a:off x="3586162" y="4023357"/>
            <a:ext cx="2276793" cy="40010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comparación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DC,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compacto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MMI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exceso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barrido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DC es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susceptible a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E7EF684-22B8-0080-131B-67D41C62A5FF}"/>
              </a:ext>
            </a:extLst>
          </p:cNvPr>
          <p:cNvPicPr>
            <a:picLocks noChangeAspect="1"/>
          </p:cNvPicPr>
          <p:nvPr/>
        </p:nvPicPr>
        <p:blipFill>
          <a:blip r:embed="rId5"/>
          <a:stretch>
            <a:fillRect/>
          </a:stretch>
        </p:blipFill>
        <p:spPr>
          <a:xfrm>
            <a:off x="652462" y="1494259"/>
            <a:ext cx="7011626" cy="2930786"/>
          </a:xfrm>
          <a:prstGeom prst="rect">
            <a:avLst/>
          </a:prstGeom>
        </p:spPr>
      </p:pic>
      <p:pic>
        <p:nvPicPr>
          <p:cNvPr id="9" name="Imagen 8">
            <a:extLst>
              <a:ext uri="{FF2B5EF4-FFF2-40B4-BE49-F238E27FC236}">
                <a16:creationId xmlns:a16="http://schemas.microsoft.com/office/drawing/2014/main" id="{8B3ACD7B-CCA1-6CE8-B87B-39E4138D13FD}"/>
              </a:ext>
            </a:extLst>
          </p:cNvPr>
          <p:cNvPicPr>
            <a:picLocks noChangeAspect="1"/>
          </p:cNvPicPr>
          <p:nvPr/>
        </p:nvPicPr>
        <p:blipFill>
          <a:blip r:embed="rId6"/>
          <a:stretch>
            <a:fillRect/>
          </a:stretch>
        </p:blipFill>
        <p:spPr>
          <a:xfrm>
            <a:off x="7855174" y="1537912"/>
            <a:ext cx="3763152" cy="2985846"/>
          </a:xfrm>
          <a:prstGeom prst="rect">
            <a:avLst/>
          </a:prstGeom>
        </p:spPr>
      </p:pic>
      <p:pic>
        <p:nvPicPr>
          <p:cNvPr id="11" name="Imagen 10">
            <a:extLst>
              <a:ext uri="{FF2B5EF4-FFF2-40B4-BE49-F238E27FC236}">
                <a16:creationId xmlns:a16="http://schemas.microsoft.com/office/drawing/2014/main" id="{6174C1EF-C21B-58B4-F569-21643BDF201B}"/>
              </a:ext>
            </a:extLst>
          </p:cNvPr>
          <p:cNvPicPr>
            <a:picLocks noChangeAspect="1"/>
          </p:cNvPicPr>
          <p:nvPr/>
        </p:nvPicPr>
        <p:blipFill>
          <a:blip r:embed="rId7"/>
          <a:stretch>
            <a:fillRect/>
          </a:stretch>
        </p:blipFill>
        <p:spPr>
          <a:xfrm>
            <a:off x="762000" y="4420380"/>
            <a:ext cx="2219635" cy="219106"/>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lo he </a:t>
            </a:r>
            <a:r>
              <a:rPr lang="en-US" sz="1200" dirty="0" err="1">
                <a:latin typeface="Arial" panose="020B0604020202020204" pitchFamily="34" charset="0"/>
                <a:cs typeface="Arial" panose="020B0604020202020204" pitchFamily="34" charset="0"/>
              </a:rPr>
              <a:t>encontrado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dL_MMI</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se da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dL_MMI</a:t>
            </a:r>
            <a:r>
              <a:rPr lang="en-US" sz="1200" dirty="0">
                <a:latin typeface="Arial" panose="020B0604020202020204" pitchFamily="34" charset="0"/>
                <a:cs typeface="Arial" panose="020B0604020202020204" pitchFamily="34" charset="0"/>
              </a:rPr>
              <a:t> = -0,3 um y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 0,03 um.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152400" y="3351163"/>
            <a:ext cx="6629400" cy="1215717"/>
          </a:xfrm>
          <a:prstGeom prst="rect">
            <a:avLst/>
          </a:prstGeom>
          <a:noFill/>
        </p:spPr>
        <p:txBody>
          <a:bodyPr wrap="square" rtlCol="0">
            <a:spAutoFit/>
          </a:bodyPr>
          <a:lstStyle/>
          <a:p>
            <a:pPr algn="ctr"/>
            <a:endParaRPr lang="en-US" dirty="0"/>
          </a:p>
          <a:p>
            <a:pPr algn="r"/>
            <a:r>
              <a:rPr lang="en-US" sz="1100" b="1" dirty="0"/>
              <a:t>Target</a:t>
            </a:r>
            <a:r>
              <a:rPr lang="en-US" sz="1100" dirty="0"/>
              <a:t>: make equal ratio over outputs (even if not 0.5) and minimize excess loss (even if not 0.0 dB)</a:t>
            </a:r>
          </a:p>
          <a:p>
            <a:pPr algn="r"/>
            <a:r>
              <a:rPr lang="en-US" sz="1100" dirty="0"/>
              <a:t>With same settings of previous LO, now adjust try to manually optimize the MMI by changing iteratively:</a:t>
            </a:r>
          </a:p>
          <a:p>
            <a:pPr algn="r"/>
            <a:r>
              <a:rPr lang="en-US" sz="1100" dirty="0"/>
              <a:t>- Change </a:t>
            </a:r>
            <a:r>
              <a:rPr lang="en-US" sz="1100" dirty="0" err="1"/>
              <a:t>dL_MMI</a:t>
            </a:r>
            <a:endParaRPr lang="en-US" sz="1100" dirty="0"/>
          </a:p>
          <a:p>
            <a:pPr algn="r"/>
            <a:r>
              <a:rPr lang="en-US" sz="1100" dirty="0"/>
              <a:t>- Change I/O waveguide position +/- </a:t>
            </a:r>
            <a:r>
              <a:rPr lang="en-US" sz="1100" dirty="0" err="1"/>
              <a:t>dy</a:t>
            </a:r>
            <a:endParaRPr lang="en-US" sz="1100" dirty="0"/>
          </a:p>
          <a:p>
            <a:pPr algn="r"/>
            <a:r>
              <a:rPr lang="en-US" sz="1100" b="1" dirty="0"/>
              <a:t>Hints</a:t>
            </a:r>
            <a:r>
              <a:rPr lang="en-US" sz="1100" dirty="0"/>
              <a:t>: observe the 2D EME propagation results to guide you to the best settings of a) and b).</a:t>
            </a:r>
          </a:p>
        </p:txBody>
      </p:sp>
      <p:pic>
        <p:nvPicPr>
          <p:cNvPr id="5" name="Imagen 4">
            <a:extLst>
              <a:ext uri="{FF2B5EF4-FFF2-40B4-BE49-F238E27FC236}">
                <a16:creationId xmlns:a16="http://schemas.microsoft.com/office/drawing/2014/main" id="{19342E8A-0F10-A456-39BD-A2F0B92DFEBB}"/>
              </a:ext>
            </a:extLst>
          </p:cNvPr>
          <p:cNvPicPr>
            <a:picLocks noChangeAspect="1"/>
          </p:cNvPicPr>
          <p:nvPr/>
        </p:nvPicPr>
        <p:blipFill>
          <a:blip r:embed="rId5"/>
          <a:stretch>
            <a:fillRect/>
          </a:stretch>
        </p:blipFill>
        <p:spPr>
          <a:xfrm>
            <a:off x="656253" y="1399674"/>
            <a:ext cx="4608820" cy="1908786"/>
          </a:xfrm>
          <a:prstGeom prst="rect">
            <a:avLst/>
          </a:prstGeom>
        </p:spPr>
      </p:pic>
      <p:pic>
        <p:nvPicPr>
          <p:cNvPr id="9" name="Imagen 8">
            <a:extLst>
              <a:ext uri="{FF2B5EF4-FFF2-40B4-BE49-F238E27FC236}">
                <a16:creationId xmlns:a16="http://schemas.microsoft.com/office/drawing/2014/main" id="{E1A939A2-0041-C245-2BF1-455DEA42073D}"/>
              </a:ext>
            </a:extLst>
          </p:cNvPr>
          <p:cNvPicPr>
            <a:picLocks noChangeAspect="1"/>
          </p:cNvPicPr>
          <p:nvPr/>
        </p:nvPicPr>
        <p:blipFill>
          <a:blip r:embed="rId6"/>
          <a:stretch>
            <a:fillRect/>
          </a:stretch>
        </p:blipFill>
        <p:spPr>
          <a:xfrm>
            <a:off x="9264615" y="2743344"/>
            <a:ext cx="2424051" cy="1856394"/>
          </a:xfrm>
          <a:prstGeom prst="rect">
            <a:avLst/>
          </a:prstGeom>
        </p:spPr>
      </p:pic>
      <p:pic>
        <p:nvPicPr>
          <p:cNvPr id="11" name="Imagen 10">
            <a:extLst>
              <a:ext uri="{FF2B5EF4-FFF2-40B4-BE49-F238E27FC236}">
                <a16:creationId xmlns:a16="http://schemas.microsoft.com/office/drawing/2014/main" id="{75556BAE-C8C1-16CE-EBCF-0D0AEE35290D}"/>
              </a:ext>
            </a:extLst>
          </p:cNvPr>
          <p:cNvPicPr>
            <a:picLocks noChangeAspect="1"/>
          </p:cNvPicPr>
          <p:nvPr/>
        </p:nvPicPr>
        <p:blipFill>
          <a:blip r:embed="rId7"/>
          <a:stretch>
            <a:fillRect/>
          </a:stretch>
        </p:blipFill>
        <p:spPr>
          <a:xfrm>
            <a:off x="5311885" y="1435406"/>
            <a:ext cx="6468378" cy="1286054"/>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Utilizando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parámetros</a:t>
            </a:r>
            <a:r>
              <a:rPr lang="en-US" sz="1200" dirty="0">
                <a:latin typeface="Arial" panose="020B0604020202020204" pitchFamily="34" charset="0"/>
                <a:cs typeface="Arial" panose="020B0604020202020204" pitchFamily="34" charset="0"/>
              </a:rPr>
              <a:t> del LO #4.2 para </a:t>
            </a:r>
            <a:r>
              <a:rPr lang="en-US" sz="1200" dirty="0" err="1">
                <a:latin typeface="Arial" panose="020B0604020202020204" pitchFamily="34" charset="0"/>
                <a:cs typeface="Arial" panose="020B0604020202020204" pitchFamily="34" charset="0"/>
              </a:rPr>
              <a:t>diseñar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del MMI y </a:t>
            </a:r>
            <a:r>
              <a:rPr lang="en-US" sz="1200" dirty="0" err="1">
                <a:latin typeface="Arial" panose="020B0604020202020204" pitchFamily="34" charset="0"/>
                <a:cs typeface="Arial" panose="020B0604020202020204" pitchFamily="34" charset="0"/>
              </a:rPr>
              <a:t>utilizando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1.2 um, se </a:t>
            </a:r>
            <a:r>
              <a:rPr lang="en-US" sz="1200" dirty="0" err="1">
                <a:latin typeface="Arial" panose="020B0604020202020204" pitchFamily="34" charset="0"/>
                <a:cs typeface="Arial" panose="020B0604020202020204" pitchFamily="34" charset="0"/>
              </a:rPr>
              <a:t>logran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exceso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0.1 dB,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concreto</a:t>
            </a:r>
            <a:r>
              <a:rPr lang="en-US" sz="1200" dirty="0">
                <a:latin typeface="Arial" panose="020B0604020202020204" pitchFamily="34" charset="0"/>
                <a:cs typeface="Arial" panose="020B0604020202020204" pitchFamily="34" charset="0"/>
              </a:rPr>
              <a:t> de 0.0052 </a:t>
            </a:r>
            <a:r>
              <a:rPr lang="en-US" sz="1200" dirty="0" err="1">
                <a:latin typeface="Arial" panose="020B0604020202020204" pitchFamily="34" charset="0"/>
                <a:cs typeface="Arial" panose="020B0604020202020204" pitchFamily="34" charset="0"/>
              </a:rPr>
              <a:t>dB.</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 </a:t>
            </a:r>
            <a:r>
              <a:rPr lang="en-US" sz="1200" dirty="0" err="1">
                <a:latin typeface="Arial" panose="020B0604020202020204" pitchFamily="34" charset="0"/>
                <a:cs typeface="Arial" panose="020B0604020202020204" pitchFamily="34" charset="0"/>
              </a:rPr>
              <a:t>medida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he </a:t>
            </a:r>
            <a:r>
              <a:rPr lang="en-US" sz="1200" dirty="0" err="1">
                <a:latin typeface="Arial" panose="020B0604020202020204" pitchFamily="34" charset="0"/>
                <a:cs typeface="Arial" panose="020B0604020202020204" pitchFamily="34" charset="0"/>
              </a:rPr>
              <a:t>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entrada y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bajando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ordenes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sufren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tamaño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B1B0C4E-CD8C-A090-34C4-7E14A6817A0B}"/>
              </a:ext>
            </a:extLst>
          </p:cNvPr>
          <p:cNvPicPr>
            <a:picLocks noChangeAspect="1"/>
          </p:cNvPicPr>
          <p:nvPr/>
        </p:nvPicPr>
        <p:blipFill>
          <a:blip r:embed="rId5"/>
          <a:stretch>
            <a:fillRect/>
          </a:stretch>
        </p:blipFill>
        <p:spPr>
          <a:xfrm>
            <a:off x="838200" y="1515407"/>
            <a:ext cx="6119813" cy="2534577"/>
          </a:xfrm>
          <a:prstGeom prst="rect">
            <a:avLst/>
          </a:prstGeom>
        </p:spPr>
      </p:pic>
      <p:pic>
        <p:nvPicPr>
          <p:cNvPr id="9" name="Imagen 8">
            <a:extLst>
              <a:ext uri="{FF2B5EF4-FFF2-40B4-BE49-F238E27FC236}">
                <a16:creationId xmlns:a16="http://schemas.microsoft.com/office/drawing/2014/main" id="{A58CA4AB-6F3C-9160-7C00-9922857385E2}"/>
              </a:ext>
            </a:extLst>
          </p:cNvPr>
          <p:cNvPicPr>
            <a:picLocks noChangeAspect="1"/>
          </p:cNvPicPr>
          <p:nvPr/>
        </p:nvPicPr>
        <p:blipFill>
          <a:blip r:embed="rId6"/>
          <a:stretch>
            <a:fillRect/>
          </a:stretch>
        </p:blipFill>
        <p:spPr>
          <a:xfrm>
            <a:off x="8153400" y="1684499"/>
            <a:ext cx="2924583" cy="2248214"/>
          </a:xfrm>
          <a:prstGeom prst="rect">
            <a:avLst/>
          </a:prstGeom>
        </p:spPr>
      </p:pic>
      <p:pic>
        <p:nvPicPr>
          <p:cNvPr id="11" name="Imagen 10">
            <a:extLst>
              <a:ext uri="{FF2B5EF4-FFF2-40B4-BE49-F238E27FC236}">
                <a16:creationId xmlns:a16="http://schemas.microsoft.com/office/drawing/2014/main" id="{5568AE2C-92E8-DA55-9A82-C2C0B5CD267D}"/>
              </a:ext>
            </a:extLst>
          </p:cNvPr>
          <p:cNvPicPr>
            <a:picLocks noChangeAspect="1"/>
          </p:cNvPicPr>
          <p:nvPr/>
        </p:nvPicPr>
        <p:blipFill>
          <a:blip r:embed="rId7"/>
          <a:stretch>
            <a:fillRect/>
          </a:stretch>
        </p:blipFill>
        <p:spPr>
          <a:xfrm>
            <a:off x="761829" y="4114800"/>
            <a:ext cx="2594307" cy="445896"/>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process for a 1x4 MMI Coupler.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tan </a:t>
            </a:r>
            <a:r>
              <a:rPr lang="en-US" sz="1200" dirty="0" err="1">
                <a:latin typeface="Arial" panose="020B0604020202020204" pitchFamily="34" charset="0"/>
                <a:cs typeface="Arial" panose="020B0604020202020204" pitchFamily="34" charset="0"/>
              </a:rPr>
              <a:t>bajas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escogido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wMMI</a:t>
            </a:r>
            <a:r>
              <a:rPr lang="en-US" sz="1200" dirty="0">
                <a:latin typeface="Arial" panose="020B0604020202020204" pitchFamily="34" charset="0"/>
                <a:cs typeface="Arial" panose="020B0604020202020204" pitchFamily="34" charset="0"/>
              </a:rPr>
              <a:t> = 5.35 um, con un </a:t>
            </a:r>
            <a:r>
              <a:rPr lang="en-US" sz="1200" dirty="0" err="1">
                <a:latin typeface="Arial" panose="020B0604020202020204" pitchFamily="34" charset="0"/>
                <a:cs typeface="Arial" panose="020B0604020202020204" pitchFamily="34" charset="0"/>
              </a:rPr>
              <a:t>espaciado</a:t>
            </a:r>
            <a:r>
              <a:rPr lang="en-US" sz="1200" dirty="0">
                <a:latin typeface="Arial" panose="020B0604020202020204" pitchFamily="34" charset="0"/>
                <a:cs typeface="Arial" panose="020B0604020202020204" pitchFamily="34" charset="0"/>
              </a:rPr>
              <a:t> entre las </a:t>
            </a:r>
            <a:r>
              <a:rPr lang="en-US" sz="1200" dirty="0" err="1">
                <a:latin typeface="Arial" panose="020B0604020202020204" pitchFamily="34" charset="0"/>
                <a:cs typeface="Arial" panose="020B0604020202020204" pitchFamily="34" charset="0"/>
              </a:rPr>
              <a:t>salidas</a:t>
            </a:r>
            <a:r>
              <a:rPr lang="en-US" sz="1200" dirty="0">
                <a:latin typeface="Arial" panose="020B0604020202020204" pitchFamily="34" charset="0"/>
                <a:cs typeface="Arial" panose="020B0604020202020204" pitchFamily="34" charset="0"/>
              </a:rPr>
              <a:t> de 0,25 um 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determinada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pt-BR" sz="1200" dirty="0">
                <a:latin typeface="Arial" panose="020B0604020202020204" pitchFamily="34" charset="0"/>
                <a:cs typeface="Arial" panose="020B0604020202020204" pitchFamily="34" charset="0"/>
              </a:rPr>
              <a:t>L = (3 * </a:t>
            </a:r>
            <a:r>
              <a:rPr lang="pt-BR" sz="1200" dirty="0" err="1">
                <a:latin typeface="Arial" panose="020B0604020202020204" pitchFamily="34" charset="0"/>
                <a:cs typeface="Arial" panose="020B0604020202020204" pitchFamily="34" charset="0"/>
              </a:rPr>
              <a:t>L_pi</a:t>
            </a:r>
            <a:r>
              <a:rPr lang="pt-BR" sz="1200" dirty="0">
                <a:latin typeface="Arial" panose="020B0604020202020204" pitchFamily="34" charset="0"/>
                <a:cs typeface="Arial" panose="020B0604020202020204" pitchFamily="34" charset="0"/>
              </a:rPr>
              <a:t>) / (4 * N) = </a:t>
            </a:r>
            <a:r>
              <a:rPr lang="es-ES" sz="1200" dirty="0">
                <a:latin typeface="Arial" panose="020B0604020202020204" pitchFamily="34" charset="0"/>
                <a:cs typeface="Arial" panose="020B0604020202020204" pitchFamily="34" charset="0"/>
              </a:rPr>
              <a:t>3 * </a:t>
            </a:r>
            <a:r>
              <a:rPr lang="es-ES" sz="1200" dirty="0" err="1">
                <a:latin typeface="Arial" panose="020B0604020202020204" pitchFamily="34" charset="0"/>
                <a:cs typeface="Arial" panose="020B0604020202020204" pitchFamily="34" charset="0"/>
              </a:rPr>
              <a:t>L_pi</a:t>
            </a:r>
            <a:r>
              <a:rPr lang="es-ES" sz="1200" dirty="0">
                <a:latin typeface="Arial" panose="020B0604020202020204" pitchFamily="34" charset="0"/>
                <a:cs typeface="Arial" panose="020B0604020202020204" pitchFamily="34" charset="0"/>
              </a:rPr>
              <a:t> / 16 </a:t>
            </a:r>
            <a:r>
              <a:rPr lang="es-ES" sz="1200" dirty="0"/>
              <a:t> </a:t>
            </a:r>
            <a:r>
              <a:rPr lang="es-ES" sz="1200" dirty="0">
                <a:latin typeface="Arial" panose="020B0604020202020204" pitchFamily="34" charset="0"/>
                <a:cs typeface="Arial" panose="020B0604020202020204" pitchFamily="34" charset="0"/>
              </a:rPr>
              <a:t>para que la interferencia que se cree tenga simetría espacial</a:t>
            </a:r>
            <a:r>
              <a:rPr lang="es-ES" sz="1400" dirty="0"/>
              <a:t>.  </a:t>
            </a:r>
            <a:endParaRPr lang="es-ES" sz="2000" dirty="0"/>
          </a:p>
          <a:p>
            <a:pPr algn="just"/>
            <a:endParaRPr lang="pt-BR" sz="1200" dirty="0"/>
          </a:p>
          <a:p>
            <a:pPr algn="just"/>
            <a:r>
              <a:rPr lang="en-US" sz="1000" dirty="0">
                <a:latin typeface="Arial" panose="020B0604020202020204" pitchFamily="34" charset="0"/>
                <a:cs typeface="Arial" panose="020B0604020202020204" pitchFamily="34" charset="0"/>
              </a:rPr>
              <a:t>  </a:t>
            </a: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39121CA-2F35-2A0E-A886-63C13B8BCD23}"/>
              </a:ext>
            </a:extLst>
          </p:cNvPr>
          <p:cNvPicPr>
            <a:picLocks noChangeAspect="1"/>
          </p:cNvPicPr>
          <p:nvPr/>
        </p:nvPicPr>
        <p:blipFill>
          <a:blip r:embed="rId5"/>
          <a:stretch>
            <a:fillRect/>
          </a:stretch>
        </p:blipFill>
        <p:spPr>
          <a:xfrm>
            <a:off x="645209" y="1436465"/>
            <a:ext cx="4764992" cy="3137304"/>
          </a:xfrm>
          <a:prstGeom prst="rect">
            <a:avLst/>
          </a:prstGeom>
        </p:spPr>
      </p:pic>
      <p:pic>
        <p:nvPicPr>
          <p:cNvPr id="9" name="Imagen 8">
            <a:extLst>
              <a:ext uri="{FF2B5EF4-FFF2-40B4-BE49-F238E27FC236}">
                <a16:creationId xmlns:a16="http://schemas.microsoft.com/office/drawing/2014/main" id="{6B20C76B-EE24-77EE-9415-F73A8E0B7C01}"/>
              </a:ext>
            </a:extLst>
          </p:cNvPr>
          <p:cNvPicPr>
            <a:picLocks noChangeAspect="1"/>
          </p:cNvPicPr>
          <p:nvPr/>
        </p:nvPicPr>
        <p:blipFill>
          <a:blip r:embed="rId6"/>
          <a:stretch>
            <a:fillRect/>
          </a:stretch>
        </p:blipFill>
        <p:spPr>
          <a:xfrm>
            <a:off x="6117771" y="1609612"/>
            <a:ext cx="5494191" cy="2806814"/>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2088</TotalTime>
  <Words>1063</Words>
  <Application>Microsoft Office PowerPoint</Application>
  <PresentationFormat>Panorámica</PresentationFormat>
  <Paragraphs>131</Paragraphs>
  <Slides>13</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Aptos</vt:lpstr>
      <vt:lpstr>Arial</vt:lpstr>
      <vt:lpstr>Calibri</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Width 0.6 - 1.6 µm (step 0.1 µm) – Wavelength 1.55 µm </vt:lpstr>
      <vt:lpstr>Longitud de batido Vs Gap spacing</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 – 1x4 Multimode Interference Coupler  Wavelength 1.55 µm, wMMI = ?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Marcos Carañana Castillo</cp:lastModifiedBy>
  <cp:revision>21</cp:revision>
  <dcterms:created xsi:type="dcterms:W3CDTF">2025-01-27T02:46:57Z</dcterms:created>
  <dcterms:modified xsi:type="dcterms:W3CDTF">2026-03-11T15:30:12Z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